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292608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88952" cy="73152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548640"/>
            <a:ext cx="731520" cy="73152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7" y="59436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</a:rPr>
              <a:t>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50292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Agentic AI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2344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>
                <a:solidFill>
                  <a:srgbClr val="C7D2FE"/>
                </a:solidFill>
              </a:rPr>
              <a:t>for Product Catalog Enrichment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783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5B4FC"/>
                </a:solidFill>
              </a:rPr>
              <a:t>Automated · Intelligent · Auditable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20040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32918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4F46E5"/>
                </a:solidFill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794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7534E"/>
                </a:solidFill>
              </a:rPr>
              <a:t>SKUs Enriched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00400" y="320040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32918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4F46E5"/>
                </a:solidFill>
              </a:rPr>
              <a:t>87.9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3794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7534E"/>
                </a:solidFill>
              </a:rPr>
              <a:t>Avg Quality Score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0" y="320040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60" y="32918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4F46E5"/>
                </a:solidFill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794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7534E"/>
                </a:solidFill>
              </a:rPr>
              <a:t>AI Agents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3200400"/>
            <a:ext cx="23774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23960" y="32918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4F46E5"/>
                </a:solidFill>
              </a:rPr>
              <a:t>46s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960" y="379476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57534E"/>
                </a:solidFill>
              </a:rPr>
              <a:t>Pipeline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7548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A29E"/>
                </a:solidFill>
              </a:rPr>
              <a:t>Built with Python · Ollama (llama3.2) · FastAPI · No cloud API keys required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1206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F46E5"/>
                </a:solidFill>
              </a:rPr>
              <a:t>github.com/ShardulJagtap/catalog-enrichment-pipeline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</a:rPr>
              <a:t>Why dirty catalogs cost real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737360"/>
            <a:ext cx="80467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</a:rPr>
              <a:t>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874519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917"/>
                </a:solidFill>
              </a:rPr>
              <a:t>Missing prices, categories and descriptions on 30-40% of SKUs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42032"/>
            <a:ext cx="80467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679191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</a:rPr>
              <a:t>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679191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917"/>
                </a:solidFill>
              </a:rPr>
              <a:t>Duplicate entries from different suppliers for the same product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346704"/>
            <a:ext cx="80467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48386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</a:rPr>
              <a:t>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483864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917"/>
                </a:solidFill>
              </a:rPr>
              <a:t>Inconsistent field names — 'colour' vs 'clr' vs 'Farbe' (German)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51376"/>
            <a:ext cx="80467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8853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</a:rPr>
              <a:t>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288536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917"/>
                </a:solidFill>
              </a:rPr>
              <a:t>Raw, unpolished descriptions that hurt conversion rates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956048"/>
            <a:ext cx="80467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9320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</a:rPr>
              <a:t>🗂️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93208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1917"/>
                </a:solidFill>
              </a:rPr>
              <a:t>No standard taxonomy — every supplier uses their own category tree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78240" y="1737360"/>
            <a:ext cx="3200400" cy="4846320"/>
          </a:xfrm>
          <a:prstGeom prst="roundRect">
            <a:avLst>
              <a:gd name="adj" fmla="val 5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15400" y="19202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💥  Business Impact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25146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C01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26060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$15B/year lost in sales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from poor product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5400" y="38862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C01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3977639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30% better conversion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with rich descriptions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5257800"/>
            <a:ext cx="2834640" cy="1143000"/>
          </a:xfrm>
          <a:prstGeom prst="roundRect">
            <a:avLst>
              <a:gd name="adj" fmla="val 5000"/>
            </a:avLst>
          </a:prstGeom>
          <a:solidFill>
            <a:srgbClr val="C010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534924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Manual cleaning of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10k SKUs = weeks of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</a:rPr>
              <a:t>Multi-agent AI pipeline that automates the entire enrichment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4F46E5"/>
                </a:solidFill>
              </a:rPr>
              <a:t>One command. 8 intelligent agents. 46 seconds. Production-ready catalog.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286000"/>
            <a:ext cx="26517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411480" cy="41148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3774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3957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Ingestion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8803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CSV · JSON · TXT · XML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286000"/>
            <a:ext cx="26517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74720" y="2377440"/>
            <a:ext cx="411480" cy="41148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0" y="23774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40" y="23957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Normalization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8803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Fields · Units · Language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286000"/>
            <a:ext cx="26517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2377440"/>
            <a:ext cx="411480" cy="41148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3957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Deduplication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8803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Rule-based + TF-IDF semantic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2286000"/>
            <a:ext cx="26517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26880" y="2377440"/>
            <a:ext cx="411480" cy="411480"/>
          </a:xfrm>
          <a:prstGeom prst="roundRect">
            <a:avLst>
              <a:gd name="adj" fmla="val 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23774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29800" y="239572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Schema Mapping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45168" y="288036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Master catalog schema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206240"/>
            <a:ext cx="26517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48640" y="4297679"/>
            <a:ext cx="411480" cy="411480"/>
          </a:xfrm>
          <a:prstGeom prst="roundRect">
            <a:avLst>
              <a:gd name="adj" fmla="val 5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42976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Gap Resolution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48006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LLM auto-fill missing fields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83280" y="4206240"/>
            <a:ext cx="26517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474720" y="4297679"/>
            <a:ext cx="411480" cy="411480"/>
          </a:xfrm>
          <a:prstGeom prst="roundRect">
            <a:avLst>
              <a:gd name="adj" fmla="val 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42976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4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Description 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93008" y="48006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SEO copy generation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60" y="4206240"/>
            <a:ext cx="26517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0" y="4297679"/>
            <a:ext cx="411480" cy="41148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42976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Quality Scoring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19088" y="48006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0–100 completeness score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235440" y="4206240"/>
            <a:ext cx="265176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326880" y="4297679"/>
            <a:ext cx="411480" cy="41148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326880" y="42976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29800" y="4315968"/>
            <a:ext cx="1920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Reporting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45168" y="48006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JSON + CSV +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</a:rPr>
              <a:t>Agent interaction flow — data moves through a strict typed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1508760" cy="100584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Ingestion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8A29E"/>
                </a:solidFill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92608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RawProduct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65960" y="1828800"/>
            <a:ext cx="1508760" cy="100584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39112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Normalization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02152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8A29E"/>
                </a:solidFill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92608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NormalizedProduct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1828800"/>
            <a:ext cx="1508760" cy="100584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39312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Deduplication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Agent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02352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8A29E"/>
                </a:solidFill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92608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+dup flags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66360" y="1828800"/>
            <a:ext cx="1508760" cy="1005840"/>
          </a:xfrm>
          <a:prstGeom prst="roundRect">
            <a:avLst>
              <a:gd name="adj" fmla="val 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39512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Schema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Mapping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02552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8A29E"/>
                </a:solidFill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66360" y="292608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EnrichedProduct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66560" y="1828800"/>
            <a:ext cx="1508760" cy="1005840"/>
          </a:xfrm>
          <a:prstGeom prst="roundRect">
            <a:avLst>
              <a:gd name="adj" fmla="val 5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39712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Gap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Resolution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8A29E"/>
                </a:solidFill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92608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+filled fields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1828800"/>
            <a:ext cx="1508760" cy="1005840"/>
          </a:xfrm>
          <a:prstGeom prst="roundRect">
            <a:avLst>
              <a:gd name="adj" fmla="val 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912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Description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Gen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02952" y="210312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A8A29E"/>
                </a:solidFill>
              </a:rPr>
              <a:t>→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292608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+descriptions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66960" y="1828800"/>
            <a:ext cx="1508760" cy="100584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40112" y="19202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Quality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Scoring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292608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7534E"/>
                </a:solidFill>
              </a:rPr>
              <a:t>scores 0-100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0" y="3474720"/>
            <a:ext cx="3931920" cy="8229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06240" y="3611880"/>
            <a:ext cx="37490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📊  ReportingAgent  →  JSON + CSV + Dashboard + Human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572000"/>
            <a:ext cx="11247120" cy="1005840"/>
          </a:xfrm>
          <a:prstGeom prst="roundRect">
            <a:avLst>
              <a:gd name="adj" fmla="val 5000"/>
            </a:avLst>
          </a:prstGeom>
          <a:solidFill>
            <a:srgbClr val="EEEF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6634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4F46E5"/>
                </a:solidFill>
              </a:rPr>
              <a:t>🔑  Design principle: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983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7534E"/>
                </a:solidFill>
              </a:rPr>
              <a:t>Each agent receives and returns typed Pydantic models. No agent calls another directly — fully decoupled, independently testable, and replaceable without touching any other agent.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Ingestion &amp; Normalization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</a:rPr>
              <a:t>Handle format chaos from any supplier feed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365760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</a:rPr>
              <a:t>Supported Formats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</a:rPr>
              <a:t>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25856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51460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Structured tabular feeds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</a:rPr>
              <a:t>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08152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JSON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337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Nested / array format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862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</a:rPr>
              <a:t>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904487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TXT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1605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Unstructured free text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709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1917"/>
                </a:solidFill>
              </a:rPr>
              <a:t>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727448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XML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9834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Structured markup feeds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1600200"/>
            <a:ext cx="39319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737360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</a:rPr>
              <a:t>Normalization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240280"/>
            <a:ext cx="3657600" cy="530352"/>
          </a:xfrm>
          <a:prstGeom prst="roundRect">
            <a:avLst>
              <a:gd name="adj" fmla="val 5000"/>
            </a:avLst>
          </a:prstGeom>
          <a:solidFill>
            <a:srgbClr val="F2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81728" y="231343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clr / colour / Farbe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231343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</a:rPr>
              <a:t>→  color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2907792"/>
            <a:ext cx="3657600" cy="530352"/>
          </a:xfrm>
          <a:prstGeom prst="roundRect">
            <a:avLst>
              <a:gd name="adj" fmla="val 5000"/>
            </a:avLst>
          </a:prstGeom>
          <a:solidFill>
            <a:srgbClr val="F2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81728" y="2980944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blk / wht / gry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980944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</a:rPr>
              <a:t>→  black / white / gray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3575304"/>
            <a:ext cx="3657600" cy="530352"/>
          </a:xfrm>
          <a:prstGeom prst="roundRect">
            <a:avLst>
              <a:gd name="adj" fmla="val 5000"/>
            </a:avLst>
          </a:prstGeom>
          <a:solidFill>
            <a:srgbClr val="F2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81728" y="3648456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'$24.99' / '29,95'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648456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</a:rPr>
              <a:t>→  24.99 (float)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0" y="4242816"/>
            <a:ext cx="3657600" cy="530352"/>
          </a:xfrm>
          <a:prstGeom prst="roundRect">
            <a:avLst>
              <a:gd name="adj" fmla="val 5000"/>
            </a:avLst>
          </a:prstGeom>
          <a:solidFill>
            <a:srgbClr val="F2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81728" y="4315968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'300g' / '2.5kg'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315968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</a:rPr>
              <a:t>→  0.3 / 2.5 (kg float)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0" y="4910328"/>
            <a:ext cx="3657600" cy="530352"/>
          </a:xfrm>
          <a:prstGeom prst="roundRect">
            <a:avLst>
              <a:gd name="adj" fmla="val 5000"/>
            </a:avLst>
          </a:prstGeom>
          <a:solidFill>
            <a:srgbClr val="F2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81728" y="4983480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German / Tagalog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983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</a:rPr>
              <a:t>→  English (Ollama)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0" y="5577840"/>
            <a:ext cx="3657600" cy="530352"/>
          </a:xfrm>
          <a:prstGeom prst="roundRect">
            <a:avLst>
              <a:gd name="adj" fmla="val 5000"/>
            </a:avLst>
          </a:prstGeom>
          <a:solidFill>
            <a:srgbClr val="F2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681728" y="565099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4 concurrent workers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5650992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</a:rPr>
              <a:t>→  3× faster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95360" y="1600200"/>
            <a:ext cx="3200400" cy="493776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78240" y="178308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✓  Live Results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228600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18 products ingested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035808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3 supplier formats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3785615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4 non-English listings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detected &amp; translated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535424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Zero crashes on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bad/missing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5285231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0.15s normalization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FFFFFF"/>
                </a:solidFill>
              </a:rPr>
              <a:t>(was 4.4s)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Deduplication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</a:rPr>
              <a:t>Two-stage approach: rule-based speed + semantic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5394960" cy="2743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1600200"/>
            <a:ext cx="5394960" cy="41148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6420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Stage 1 — Rule-Based  (fast, always runs)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48840"/>
            <a:ext cx="51206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0">
                <a:solidFill>
                  <a:srgbClr val="1C1917"/>
                </a:solidFill>
              </a:rPr>
              <a:t>• Normalize: lowercase, strip stop words, remove punctuation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C1917"/>
                </a:solidFill>
              </a:rPr>
              <a:t>• SequenceMatcher ratio (60% weight)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C1917"/>
                </a:solidFill>
              </a:rPr>
              <a:t>• Jaccard token overlap (40% weight)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C1917"/>
                </a:solidFill>
              </a:rPr>
              <a:t>• Category guard — different known categories = never duplicate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526280"/>
            <a:ext cx="539496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4526280"/>
            <a:ext cx="5394960" cy="41148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459028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Stage 2 — TF-IDF Semantic  (no download, instant)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5074920"/>
            <a:ext cx="512064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0">
                <a:solidFill>
                  <a:srgbClr val="1C1917"/>
                </a:solidFill>
              </a:rPr>
              <a:t>• char n-gram TF-IDF via scikit-learn (already installed)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C1917"/>
                </a:solidFill>
              </a:rPr>
              <a:t>• Cosine similarity on product text representation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C1917"/>
                </a:solidFill>
              </a:rPr>
              <a:t>• Threshold: 0.85 (configurable)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600200"/>
            <a:ext cx="5669280" cy="2286000"/>
          </a:xfrm>
          <a:prstGeom prst="roundRect">
            <a:avLst>
              <a:gd name="adj" fmla="val 5000"/>
            </a:avLst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71907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</a:rPr>
              <a:t>📌  Example Catch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1488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"Men's Slim Fit Jeans"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514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F46E5"/>
                </a:solidFill>
              </a:rPr>
              <a:t>≈  "Slim Fit Jeans Men Indigo 32x30"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83464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Jaccard: 0.57  ·  SequenceMatcher: 0.71  →  FLAGGED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069080"/>
            <a:ext cx="5669280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418795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⚡ 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663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7534E"/>
                </a:solidFill>
              </a:rPr>
              <a:t>Before (HuggingFace download)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0" y="466344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16A34A"/>
                </a:solidFill>
              </a:rPr>
              <a:t>137s  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52303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7534E"/>
                </a:solidFill>
              </a:rPr>
              <a:t>After  (TF-IDF, scikit-learn)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5230368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16A34A"/>
                </a:solidFill>
              </a:rPr>
              <a:t>2s    ✅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5797296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7534E"/>
                </a:solidFill>
              </a:rPr>
              <a:t>Speedup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579729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16A34A"/>
                </a:solidFill>
              </a:rPr>
              <a:t>68×   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Schema Mapping &amp; Gap Resolution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</a:rPr>
              <a:t>Agents that reason about missing data — not just default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5394960" cy="2651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1907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Schema Mapping — Category Resolution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2176272"/>
            <a:ext cx="347472" cy="347472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17627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221991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Direct taxonomy match (case-insensitive)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679191"/>
            <a:ext cx="347472" cy="347472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79191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2724911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Fuzzy substring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182112"/>
            <a:ext cx="347472" cy="347472"/>
          </a:xfrm>
          <a:prstGeom prst="roundRect">
            <a:avLst>
              <a:gd name="adj" fmla="val 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8211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" y="322783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Keyword heuristic  (no API call)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685032"/>
            <a:ext cx="347472" cy="347472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68503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7307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Ollama LLM inference  (last resort)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4840"/>
            <a:ext cx="539496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553712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Gap Resolution — Field Fill Priority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010912"/>
            <a:ext cx="5120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200" b="0">
                <a:solidFill>
                  <a:srgbClr val="1C1917"/>
                </a:solidFill>
              </a:rPr>
              <a:t>1.  Deterministic rule  (currency → 'USD')  — free, instant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C1917"/>
                </a:solidFill>
              </a:rPr>
              <a:t>2.  Keyword heuristic   (category from name)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C1917"/>
                </a:solidFill>
              </a:rPr>
              <a:t>3.  Ollama LLM          (all other fields with context)</a:t>
            </a:r>
          </a:p>
          <a:p>
            <a:pPr>
              <a:spcBef>
                <a:spcPts val="400"/>
              </a:spcBef>
            </a:pPr>
            <a:r>
              <a:rPr sz="1200" b="0">
                <a:solidFill>
                  <a:srgbClr val="1C1917"/>
                </a:solidFill>
              </a:rPr>
              <a:t>4.  Flag as UNRESOLVED  (if LLM returns UNKNOWN)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1600200"/>
            <a:ext cx="5669280" cy="4937760"/>
          </a:xfrm>
          <a:prstGeom prst="roundRect">
            <a:avLst>
              <a:gd name="adj" fmla="val 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17830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✓  Live Gap Resolution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2331720"/>
            <a:ext cx="5303520" cy="530352"/>
          </a:xfrm>
          <a:prstGeom prst="roundRect">
            <a:avLst>
              <a:gd name="adj" fmla="val 5000"/>
            </a:avLst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423160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Fields auto-filled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0" y="2423160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2990087"/>
            <a:ext cx="5303520" cy="530352"/>
          </a:xfrm>
          <a:prstGeom prst="roundRect">
            <a:avLst>
              <a:gd name="adj" fmla="val 5000"/>
            </a:avLst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0" y="3081527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Prices inferred by LLM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3081527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09360" y="3648456"/>
            <a:ext cx="5303520" cy="530352"/>
          </a:xfrm>
          <a:prstGeom prst="roundRect">
            <a:avLst>
              <a:gd name="adj" fmla="val 5000"/>
            </a:avLst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3739896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Descriptions filled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89920" y="3739896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09360" y="4306824"/>
            <a:ext cx="5303520" cy="530352"/>
          </a:xfrm>
          <a:prstGeom prst="roundRect">
            <a:avLst>
              <a:gd name="adj" fmla="val 5000"/>
            </a:avLst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4398264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Unresolved fields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0" y="4398264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309360" y="4965192"/>
            <a:ext cx="5303520" cy="530352"/>
          </a:xfrm>
          <a:prstGeom prst="roundRect">
            <a:avLst>
              <a:gd name="adj" fmla="val 5000"/>
            </a:avLst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5056631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Concurrent workers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0" y="5056631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5623559"/>
            <a:ext cx="5303520" cy="530352"/>
          </a:xfrm>
          <a:prstGeom prst="roundRect">
            <a:avLst>
              <a:gd name="adj" fmla="val 5000"/>
            </a:avLst>
          </a:prstGeom>
          <a:solidFill>
            <a:srgbClr val="B45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0" y="5714999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Time for 18 products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5714999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</a:rPr>
              <a:t>4.6s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Description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</a:rPr>
              <a:t>LLM-powered SEO copy grounded in verified facts only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685800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</a:rPr>
              <a:t>🔐  Prompt Architecture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40280"/>
            <a:ext cx="6492240" cy="1280160"/>
          </a:xfrm>
          <a:prstGeom prst="roundRect">
            <a:avLst>
              <a:gd name="adj" fmla="val 5000"/>
            </a:avLst>
          </a:prstGeom>
          <a:solidFill>
            <a:srgbClr val="EEEF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0428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</a:rPr>
              <a:t>System (trusted — authored by us):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0604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"You are an expert e-commerce copywriter. Write 50–250 words using
ONLY the attributes provided. Do NOT invent specifications."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03320"/>
            <a:ext cx="6492240" cy="1280160"/>
          </a:xfrm>
          <a:prstGeom prst="roundRect">
            <a:avLst>
              <a:gd name="adj" fmla="val 5000"/>
            </a:avLst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767328"/>
            <a:ext cx="6217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D9488"/>
                </a:solidFill>
              </a:rPr>
              <a:t>User (structured, sanitized data only):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069080"/>
            <a:ext cx="6217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"Product name: USB-C Fast Charger 65W
Known attributes:
  category: Electronics  |  color: white  |  price_usd: $25.00"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16636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🛡️  Guardrails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53212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57534E"/>
                </a:solidFill>
              </a:rPr>
              <a:t>Hallucination check — numbers in output not in attributes are flagged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57534E"/>
                </a:solidFill>
              </a:rPr>
              <a:t>Word count enforced — min 50, max 250 (fallback to template if violated)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57534E"/>
                </a:solidFill>
              </a:rPr>
              <a:t>Injection prevention — supplier strings sanitized before prompt construction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1600200"/>
            <a:ext cx="4297680" cy="493776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178308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📝  Generated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26679" y="2286000"/>
            <a:ext cx="40233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"Power up your devices faster than ever with this USB-C 65W Fast Charger. Designed for modern smartphones, laptops and tablets, it delivers rapid charging while protecting against overcharge. Compact and travel-friendly in clean white — the essential companion for professionals on the go."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4526280"/>
            <a:ext cx="4023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5B4FC"/>
                </a:solidFill>
              </a:rPr>
              <a:t>74 words  ·  SEO-optimized  ·  No invented specs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502920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⚡  Performance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394960"/>
            <a:ext cx="3931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7D2FE"/>
                </a:solidFill>
              </a:rPr>
              <a:t>18 descriptions  ·  6 workers
~2.5s/call  ·  ~10s total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Quality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</a:rPr>
              <a:t>Every SKU gets an honest 0–100 score — no guessing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C1917"/>
                </a:solidFill>
              </a:rPr>
              <a:t>Scoring Breakdown  (100 pts total)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057400"/>
            <a:ext cx="777240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2057400"/>
            <a:ext cx="914400" cy="658368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20370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40 pts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11226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Required fields present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40487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6 fields × 6.67 pts each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834640"/>
            <a:ext cx="777240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2834640"/>
            <a:ext cx="914400" cy="658368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9809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20 pts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88950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Optional fields present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1821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8 fields × 2.5 pts each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11880"/>
            <a:ext cx="777240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3611880"/>
            <a:ext cx="914400" cy="658368"/>
          </a:xfrm>
          <a:prstGeom prst="roundRect">
            <a:avLst>
              <a:gd name="adj" fmla="val 5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5818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20 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6667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Description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95935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Full at ≥100w, partial 50-99w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89120"/>
            <a:ext cx="777240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7200" y="4389120"/>
            <a:ext cx="914400" cy="658368"/>
          </a:xfrm>
          <a:prstGeom prst="roundRect">
            <a:avLst>
              <a:gd name="adj" fmla="val 5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5354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10 pts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4443983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Flag penalty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73659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−2.5 pts per MISSING flag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166360"/>
            <a:ext cx="777240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57200" y="5166360"/>
            <a:ext cx="914400" cy="658368"/>
          </a:xfrm>
          <a:prstGeom prst="roundRect">
            <a:avLst>
              <a:gd name="adj" fmla="val 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31266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10 pts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522122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Not a duplicate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551383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Full 10 if is_duplicate=False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03920" y="1600200"/>
            <a:ext cx="3383280" cy="4937760"/>
          </a:xfrm>
          <a:prstGeom prst="roundRect">
            <a:avLst>
              <a:gd name="adj" fmla="val 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0" y="17830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✓  Live Score Results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41080" y="2377440"/>
            <a:ext cx="3108960" cy="530352"/>
          </a:xfrm>
          <a:prstGeom prst="roundRect">
            <a:avLst>
              <a:gd name="adj" fmla="val 5000"/>
            </a:avLst>
          </a:prstGeom>
          <a:solidFill>
            <a:srgbClr val="0A6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732520" y="246888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Total SKUs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704320" y="246888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41080" y="3035808"/>
            <a:ext cx="3108960" cy="530352"/>
          </a:xfrm>
          <a:prstGeom prst="roundRect">
            <a:avLst>
              <a:gd name="adj" fmla="val 5000"/>
            </a:avLst>
          </a:prstGeom>
          <a:solidFill>
            <a:srgbClr val="0A6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32520" y="31272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Avg score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04320" y="312724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87.9 / 100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641080" y="3694176"/>
            <a:ext cx="3108960" cy="530352"/>
          </a:xfrm>
          <a:prstGeom prst="roundRect">
            <a:avLst>
              <a:gd name="adj" fmla="val 5000"/>
            </a:avLst>
          </a:prstGeom>
          <a:solidFill>
            <a:srgbClr val="0A6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32520" y="3785615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Score ≥ 80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704320" y="3785615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18 (100%)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641080" y="4352544"/>
            <a:ext cx="3108960" cy="530352"/>
          </a:xfrm>
          <a:prstGeom prst="roundRect">
            <a:avLst>
              <a:gd name="adj" fmla="val 5000"/>
            </a:avLst>
          </a:prstGeom>
          <a:solidFill>
            <a:srgbClr val="0A6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732520" y="4443983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Score 50-79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04320" y="4443983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41080" y="5010912"/>
            <a:ext cx="3108960" cy="530352"/>
          </a:xfrm>
          <a:prstGeom prst="roundRect">
            <a:avLst>
              <a:gd name="adj" fmla="val 5000"/>
            </a:avLst>
          </a:prstGeom>
          <a:solidFill>
            <a:srgbClr val="0A6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732520" y="510235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Score &lt; 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704320" y="5102352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41080" y="5669279"/>
            <a:ext cx="3108960" cy="530352"/>
          </a:xfrm>
          <a:prstGeom prst="roundRect">
            <a:avLst>
              <a:gd name="adj" fmla="val 5000"/>
            </a:avLst>
          </a:prstGeom>
          <a:solidFill>
            <a:srgbClr val="0A6E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32520" y="5760719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704320" y="5760719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FFFFFF"/>
                </a:solidFill>
              </a:rPr>
              <a:t>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5852160"/>
            <a:ext cx="7772400" cy="685800"/>
          </a:xfrm>
          <a:prstGeom prst="roundRect">
            <a:avLst>
              <a:gd name="adj" fmla="val 5000"/>
            </a:avLst>
          </a:prstGeom>
          <a:solidFill>
            <a:srgbClr val="EEEF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5943600"/>
            <a:ext cx="74980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F46E5"/>
                </a:solidFill>
              </a:rPr>
              <a:t>🔵  Human-in-the-loop: SKUs scoring &lt; 50 are automatically flagged in the dashboard Review tab with Approve / Reject controls and audit trail.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Live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</a:rPr>
              <a:t>FastAPI + HTML dashboard — all results in one 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69748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7099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C1917"/>
                </a:solidFill>
              </a:rPr>
              <a:t>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3736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Overview tab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221992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6 live charts — Top 5, Score Distribution, Supplier Quality, Field Radar, Before/After, Category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600200"/>
            <a:ext cx="269748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008" y="17099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C1917"/>
                </a:solidFill>
              </a:rPr>
              <a:t>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69080" y="173736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Products tab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008" y="2221992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Search + filter by category/score. Paginated table with inline score bars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00200"/>
            <a:ext cx="269748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7099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C1917"/>
                </a:solidFill>
              </a:rPr>
              <a:t>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95160" y="173736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Human Review tab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221992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Approve/Reject cards for low-scoring SKUs with audit trail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235440" y="1600200"/>
            <a:ext cx="269748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45168" y="1709928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C1917"/>
                </a:solidFill>
              </a:rPr>
              <a:t>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1737360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Report tab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45168" y="2221992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Full pipeline stats in terminal-style report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264408"/>
            <a:ext cx="269748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37413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C1917"/>
                </a:solidFill>
              </a:rPr>
              <a:t>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401568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Real-time SSE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388620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Server-Sent Events push stream — no polling, instant step updates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264408"/>
            <a:ext cx="2697480" cy="1508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93008" y="3374136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C1917"/>
                </a:solidFill>
              </a:rPr>
              <a:t>⌨️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69080" y="3401568"/>
            <a:ext cx="18745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C1917"/>
                </a:solidFill>
              </a:rPr>
              <a:t>Keyboard shortcuts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008" y="388620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7534E"/>
                </a:solidFill>
              </a:rPr>
              <a:t>Cmd+Enter to run, 1–4 to switch tabs, Escape to cancel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029200"/>
            <a:ext cx="11247120" cy="6583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4E1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16636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1917"/>
                </a:solidFill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" y="508406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C1917"/>
                </a:solidFill>
              </a:rPr>
              <a:t>Downloads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512064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7534E"/>
                </a:solidFill>
              </a:rPr>
              <a:t>Export enriched catalog as JSON or CSV in one click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4F46E5"/>
                </a:solidFill>
              </a:rPr>
              <a:t>🔗  github.com/ShardulJagtap/catalog-enrichment-pipeline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Results — Before vs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</a:rPr>
              <a:t>Measurable enrichment across every dimension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2763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57534E"/>
                </a:solidFill>
              </a:rPr>
              <a:t>Metric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6276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11D48"/>
                </a:solidFill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62763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</a:rPr>
              <a:t>After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57400"/>
            <a:ext cx="11247120" cy="50292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4884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Complete descriptions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488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11D48"/>
                </a:solidFill>
              </a:rPr>
              <a:t>3 / 18 (17%)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1488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</a:rPr>
              <a:t>18 / 18 (100%)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60604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9748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Valid category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11D48"/>
                </a:solidFill>
              </a:rPr>
              <a:t>13 / 18 (72%)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974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</a:rPr>
              <a:t>18 / 18 (100%)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154680"/>
            <a:ext cx="11247120" cy="50292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32461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Price present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32461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11D48"/>
                </a:solidFill>
              </a:rPr>
              <a:t>13 / 18 (72%)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32461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</a:rPr>
              <a:t>18 / 18 (100%)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794759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Non-English handled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794759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11D48"/>
                </a:solidFill>
              </a:rPr>
              <a:t>0 /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3794759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</a:rPr>
              <a:t>4 / 4  (100%)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251960"/>
            <a:ext cx="11247120" cy="50292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434340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Avg quality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34340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11D48"/>
                </a:solidFill>
              </a:rPr>
              <a:t>~38 / 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34340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</a:rPr>
              <a:t>87.9 / 100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80060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89204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SEO tags present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489204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11D48"/>
                </a:solidFill>
              </a:rPr>
              <a:t>0 / 18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89204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16A34A"/>
                </a:solidFill>
              </a:rPr>
              <a:t>18 / 18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solidFill>
            <a:srgbClr val="F8F7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5440679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Pipeline time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5440679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11D48"/>
                </a:solidFill>
              </a:rPr>
              <a:t>N/A (manual)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440679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</a:rPr>
              <a:t>46 seconds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897880"/>
            <a:ext cx="1124712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98932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1917"/>
                </a:solidFill>
              </a:rPr>
              <a:t>Duplicate detection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98932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11D48"/>
                </a:solidFill>
              </a:rPr>
              <a:t>Not possible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0" y="598932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</a:rPr>
              <a:t>Automated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463040"/>
          </a:xfrm>
          <a:prstGeom prst="rect">
            <a:avLst/>
          </a:prstGeom>
          <a:solidFill>
            <a:srgbClr val="3730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Why This Scales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2FE"/>
                </a:solidFill>
              </a:rPr>
              <a:t>Architecture is production-ready — infrastructure just needs to catch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95760" y="6492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8A29E"/>
                </a:solidFill>
              </a:rPr>
              <a:t>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600200"/>
            <a:ext cx="2651760" cy="2926080"/>
          </a:xfrm>
          <a:prstGeom prst="roundRect">
            <a:avLst>
              <a:gd name="adj" fmla="val 5000"/>
            </a:avLst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7373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FFFFFF"/>
                </a:solidFill>
              </a:rPr>
              <a:t>Today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FFFFFF"/>
                </a:solidFill>
              </a:rPr>
              <a:t>Prototype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4231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Single machine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Sequential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Local Ollama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4160520"/>
            <a:ext cx="2377440" cy="50292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2245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~1,000 SKUs/hr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8A29E"/>
                </a:solidFill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1600200"/>
            <a:ext cx="2651760" cy="2926080"/>
          </a:xfrm>
          <a:prstGeom prst="roundRect">
            <a:avLst>
              <a:gd name="adj" fmla="val 5000"/>
            </a:avLst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7373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FFFFFF"/>
                </a:solidFill>
              </a:rPr>
              <a:t>Phase 1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FFFFFF"/>
                </a:solidFill>
              </a:rPr>
              <a:t>Horizontal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4231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Docker containers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Kafka queues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Auto-scaling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20440" y="4160520"/>
            <a:ext cx="2377440" cy="50292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20440" y="42245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~100,000 SKUs/hr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8A29E"/>
                </a:solidFill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1600200"/>
            <a:ext cx="2651760" cy="292608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46520" y="17373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FFFFFF"/>
                </a:solidFill>
              </a:rPr>
              <a:t>Phase 2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FFFFFF"/>
                </a:solidFill>
              </a:rPr>
              <a:t>LLM Throughput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4231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Batch requests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Result caching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GPU Ollama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46520" y="4160520"/>
            <a:ext cx="2377440" cy="50292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2245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10× LLM speed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926080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A8A29E"/>
                </a:solidFill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235440" y="1600200"/>
            <a:ext cx="2651760" cy="2926080"/>
          </a:xfrm>
          <a:prstGeom prst="roundRect">
            <a:avLst>
              <a:gd name="adj" fmla="val 5000"/>
            </a:avLst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1737360"/>
            <a:ext cx="2377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 b="1">
                <a:solidFill>
                  <a:srgbClr val="FFFFFF"/>
                </a:solidFill>
              </a:rPr>
              <a:t>Phase 3</a:t>
            </a:r>
          </a:p>
          <a:p>
            <a:pPr>
              <a:spcBef>
                <a:spcPts val="400"/>
              </a:spcBef>
            </a:pPr>
            <a:r>
              <a:rPr sz="1400" b="0">
                <a:solidFill>
                  <a:srgbClr val="FFFFFF"/>
                </a:solidFill>
              </a:rPr>
              <a:t>Dedup at Scale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72600" y="2423160"/>
            <a:ext cx="2377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FAISS ANN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Vector DB (Qdrant)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E0E7FF"/>
                </a:solidFill>
              </a:rPr>
              <a:t>O(n log n)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72600" y="4160520"/>
            <a:ext cx="2377440" cy="502920"/>
          </a:xfrm>
          <a:prstGeom prst="roundRect">
            <a:avLst>
              <a:gd name="adj" fmla="val 5000"/>
            </a:avLst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72600" y="4224528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1M products in minutes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937760"/>
            <a:ext cx="11247120" cy="1600200"/>
          </a:xfrm>
          <a:prstGeom prst="roundRect">
            <a:avLst>
              <a:gd name="adj" fmla="val 5000"/>
            </a:avLst>
          </a:prstGeom>
          <a:solidFill>
            <a:srgbClr val="EEEF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507492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4F46E5"/>
                </a:solidFill>
              </a:rPr>
              <a:t>🔑  Why Agentic &gt; Monolithic ETL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48640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7534E"/>
                </a:solidFill>
              </a:rPr>
              <a:t>Each agent is independently deployable, testable, and replaceable. When a supplier changes format — only IngestionAgent updates. When the LLM improves — only Description and Gap agents benefit. No other architecture gives you that modularity at zero coupling cost.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